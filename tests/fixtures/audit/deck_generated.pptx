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embeddedFontLst>
    <p:embeddedFont>
      <p:font typeface="Noto Sans SC" charset="-122" pitchFamily="34"/>
      <p:regular r:id="rIdFont1"/>
      <p:bold r:id="rIdFont2"/>
    </p:embeddedFont>
    <p:embeddedFont>
      <p:font typeface="Noto Serif SC" charset="-122" pitchFamily="18"/>
      <p:regular r:id="rIdFont3"/>
      <p:bold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spc="200" dirty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QUARTERLY REVIEW ·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27100"/>
            <a:ext cx="10972800" cy="7594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90"/>
              </a:lnSpc>
            </a:pPr>
            <a:r>
              <a:rPr lang="zh-CN" sz="2600" b="1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产品增长报告</a:t>
            </a:r>
            <a:br>
              <a:rPr sz="2600"/>
            </a:br>
            <a:r>
              <a:rPr lang="zh-CN" sz="2600" b="1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与下季度规划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889720"/>
            <a:ext cx="7620000" cy="3412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20"/>
              </a:lnSpc>
            </a:pPr>
            <a:r>
              <a:rPr lang="zh-CN" sz="12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聚焦三个核心指标：活跃用户、留存与收入；给出下一步行动清单。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255812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zh-CN" sz="9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offipy · 设计引擎 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7729" y="6350000"/>
            <a:ext cx="384671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94A3B8"/>
                </a:solidFill>
                <a:latin typeface="Microsoft YaHei"/>
                <a:cs typeface="Microsoft YaHe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713210"/>
            <a:ext cx="3556000" cy="106293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1713210"/>
            <a:ext cx="0" cy="106293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318000" y="1713210"/>
            <a:ext cx="3556000" cy="106293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318000" y="1713210"/>
            <a:ext cx="0" cy="106293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026400" y="1713210"/>
            <a:ext cx="3556000" cy="106293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026400" y="1713210"/>
            <a:ext cx="0" cy="106293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609600"/>
            <a:ext cx="109728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spc="200" dirty="0">
                <a:solidFill>
                  <a:srgbClr val="38BDF8"/>
                </a:solidFill>
                <a:latin typeface="Microsoft YaHei"/>
                <a:cs typeface="Microsoft YaHe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27100"/>
            <a:ext cx="10972800" cy="5315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90"/>
              </a:lnSpc>
            </a:pPr>
            <a:r>
              <a:rPr lang="zh-CN" sz="2600" b="1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今天讲三件事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" y="1967210"/>
            <a:ext cx="3009900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80"/>
              </a:lnSpc>
            </a:pPr>
            <a:r>
              <a:rPr lang="en-US" sz="1400" b="1" dirty="0">
                <a:solidFill>
                  <a:srgbClr val="38BDF8"/>
                </a:solidFill>
                <a:latin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700" y="2278360"/>
            <a:ext cx="3009900" cy="3412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2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增长：活跃用户月环比 +18%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967210"/>
            <a:ext cx="3009900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80"/>
              </a:lnSpc>
            </a:pPr>
            <a:r>
              <a:rPr lang="en-US" sz="1400" b="1" dirty="0">
                <a:solidFill>
                  <a:srgbClr val="38BDF8"/>
                </a:solidFill>
                <a:latin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278360"/>
            <a:ext cx="3009900" cy="3412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2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留存：次月留存提升 6 个百分点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500" y="1967210"/>
            <a:ext cx="3009900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80"/>
              </a:lnSpc>
            </a:pPr>
            <a:r>
              <a:rPr lang="en-US" sz="1400" b="1" dirty="0">
                <a:solidFill>
                  <a:srgbClr val="38BDF8"/>
                </a:solidFill>
                <a:latin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8500" y="2278360"/>
            <a:ext cx="3009900" cy="3412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2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规划：下季度三件必做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350000"/>
            <a:ext cx="1255812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zh-CN" sz="9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offipy · 设计引擎 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97729" y="6350000"/>
            <a:ext cx="384671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94A3B8"/>
                </a:solidFill>
                <a:latin typeface="Microsoft YaHei"/>
                <a:cs typeface="Microsoft YaHe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spc="200" dirty="0">
                <a:solidFill>
                  <a:srgbClr val="38BDF8"/>
                </a:solidFill>
                <a:latin typeface="Microsoft YaHei"/>
                <a:cs typeface="Microsoft YaHei"/>
              </a:rPr>
              <a:t>HIGHLIGHT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27100"/>
            <a:ext cx="10972800" cy="2032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000"/>
              </a:lnSpc>
            </a:pPr>
            <a:r>
              <a:rPr lang="en-US" sz="10000" b="1" dirty="0">
                <a:solidFill>
                  <a:srgbClr val="38BDF8"/>
                </a:solidFill>
                <a:latin typeface="Microsoft YaHei"/>
                <a:cs typeface="Microsoft YaHei"/>
              </a:rPr>
              <a:t>+18%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97100"/>
            <a:ext cx="10972800" cy="5315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90"/>
              </a:lnSpc>
            </a:pPr>
            <a:r>
              <a:rPr lang="zh-CN" sz="2600" b="1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月活跃用户增速创新高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80010"/>
            <a:ext cx="10972800" cy="2755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40"/>
              </a:lnSpc>
            </a:pPr>
            <a:r>
              <a:rPr lang="zh-CN" sz="12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连续三个季度加速，本季度达到历史峰值。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350000"/>
            <a:ext cx="1255812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zh-CN" sz="9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offipy · 设计引擎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7729" y="6350000"/>
            <a:ext cx="384671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94A3B8"/>
                </a:solidFill>
                <a:latin typeface="Microsoft YaHei"/>
                <a:cs typeface="Microsoft YaHe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4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1610"/>
            <a:ext cx="10972800" cy="292100"/>
          </a:xfrm>
          <a:prstGeom prst="rect">
            <a:avLst/>
          </a:prstGeom>
        </p:spPr>
      </p:pic>
      <p:pic>
        <p:nvPicPr>
          <p:cNvPr id="3" name="Picture 2" descr="slide4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12851"/>
            <a:ext cx="10972800" cy="292100"/>
          </a:xfrm>
          <a:prstGeom prst="rect">
            <a:avLst/>
          </a:prstGeom>
        </p:spPr>
      </p:pic>
      <p:pic>
        <p:nvPicPr>
          <p:cNvPr id="4" name="Picture 3" descr="slide4-de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14091"/>
            <a:ext cx="10972800" cy="292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09728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spc="200" dirty="0">
                <a:solidFill>
                  <a:srgbClr val="38BDF8"/>
                </a:solidFill>
                <a:latin typeface="Microsoft YaHei"/>
                <a:cs typeface="Microsoft YaHe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7100"/>
            <a:ext cx="10972800" cy="5315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90"/>
              </a:lnSpc>
            </a:pPr>
            <a:r>
              <a:rPr lang="zh-CN" sz="2600" b="1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下季度三件必做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11610"/>
            <a:ext cx="10972800" cy="383937"/>
          </a:xfrm>
          <a:prstGeom prst="rect">
            <a:avLst/>
          </a:prstGeom>
          <a:noFill/>
        </p:spPr>
        <p:txBody>
          <a:bodyPr wrap="none" lIns="228600" rIns="0" tIns="0" bIns="0" anchor="t"/>
          <a:lstStyle/>
          <a:p>
            <a:pPr algn="l">
              <a:lnSpc>
                <a:spcPts val="216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上线推荐位改版，承接新增量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12851"/>
            <a:ext cx="10972800" cy="383937"/>
          </a:xfrm>
          <a:prstGeom prst="rect">
            <a:avLst/>
          </a:prstGeom>
          <a:noFill/>
        </p:spPr>
        <p:txBody>
          <a:bodyPr wrap="none" lIns="228600" rIns="0" tIns="0" bIns="0" anchor="t"/>
          <a:lstStyle/>
          <a:p>
            <a:pPr algn="l">
              <a:lnSpc>
                <a:spcPts val="216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完善付费转化漏斗，目标提升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14091"/>
            <a:ext cx="10972800" cy="383937"/>
          </a:xfrm>
          <a:prstGeom prst="rect">
            <a:avLst/>
          </a:prstGeom>
          <a:noFill/>
        </p:spPr>
        <p:txBody>
          <a:bodyPr wrap="none" lIns="228600" rIns="0" tIns="0" bIns="0" anchor="t"/>
          <a:lstStyle/>
          <a:p>
            <a:pPr algn="l">
              <a:lnSpc>
                <a:spcPts val="2160"/>
              </a:lnSpc>
            </a:pPr>
            <a:r>
              <a:rPr lang="zh-CN" sz="1200" dirty="0">
                <a:solidFill>
                  <a:srgbClr val="F8FAFC"/>
                </a:solidFill>
                <a:latin typeface="Microsoft YaHei"/>
                <a:ea typeface="Noto Sans SC"/>
                <a:cs typeface="Microsoft YaHei"/>
              </a:rPr>
              <a:t>启动企业版 beta，验证 B 端需求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50000"/>
            <a:ext cx="1255812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zh-CN" sz="900" dirty="0">
                <a:solidFill>
                  <a:srgbClr val="94A3B8"/>
                </a:solidFill>
                <a:latin typeface="Microsoft YaHei"/>
                <a:ea typeface="Noto Sans SC"/>
                <a:cs typeface="Microsoft YaHei"/>
              </a:rPr>
              <a:t>offipy · 设计引擎 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97729" y="6350000"/>
            <a:ext cx="384671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94A3B8"/>
                </a:solidFill>
                <a:latin typeface="Microsoft YaHei"/>
                <a:cs typeface="Microsoft YaHe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spc="200" dirty="0">
                <a:solidFill>
                  <a:srgbClr val="0284C7"/>
                </a:solidFill>
                <a:latin typeface="Microsoft YaHei"/>
                <a:cs typeface="Microsoft YaHe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27100"/>
            <a:ext cx="10972800" cy="5315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90"/>
              </a:lnSpc>
            </a:pPr>
            <a:r>
              <a:rPr lang="zh-CN" sz="2600" b="1" dirty="0">
                <a:solidFill>
                  <a:srgbClr val="0F172A"/>
                </a:solidFill>
                <a:latin typeface="Microsoft YaHei"/>
                <a:ea typeface="Noto Sans SC"/>
                <a:cs typeface="Microsoft YaHei"/>
              </a:rPr>
              <a:t>欢迎提问与反馈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510010"/>
            <a:ext cx="7620000" cy="3412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20"/>
              </a:lnSpc>
            </a:pPr>
            <a:r>
              <a:rPr lang="zh-CN" sz="1200" dirty="0">
                <a:solidFill>
                  <a:srgbClr val="475569"/>
                </a:solidFill>
                <a:latin typeface="Microsoft YaHei"/>
                <a:ea typeface="Noto Sans SC"/>
                <a:cs typeface="Microsoft YaHei"/>
              </a:rPr>
              <a:t>完整数据包与复盘文档已归档，随时可取。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0"/>
            <a:ext cx="1255812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zh-CN" sz="900" dirty="0">
                <a:solidFill>
                  <a:srgbClr val="475569"/>
                </a:solidFill>
                <a:latin typeface="Microsoft YaHei"/>
                <a:ea typeface="Noto Sans SC"/>
                <a:cs typeface="Microsoft YaHei"/>
              </a:rPr>
              <a:t>offipy · 设计引擎 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7729" y="6350000"/>
            <a:ext cx="384671" cy="2133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80"/>
              </a:lnSpc>
            </a:pPr>
            <a:r>
              <a:rPr lang="en-US" sz="900" dirty="0">
                <a:solidFill>
                  <a:srgbClr val="475569"/>
                </a:solidFill>
                <a:latin typeface="Microsoft YaHei"/>
                <a:cs typeface="Microsoft YaHe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